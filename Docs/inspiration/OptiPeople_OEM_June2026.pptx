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ct/glhqrMHq+nYxw8Bzloybu/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76809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ACAC"/>
                </a:solidFill>
                <a:latin typeface="Calibri"/>
                <a:ea typeface="Calibri"/>
                <a:cs typeface="Calibri"/>
                <a:sym typeface="Calibri"/>
              </a:rPr>
              <a:t>Digital modular operations platform  ·  Digital strategic partner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457200" y="10972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"/>
          <p:cNvSpPr/>
          <p:nvPr/>
        </p:nvSpPr>
        <p:spPr>
          <a:xfrm>
            <a:off x="457200" y="1234440"/>
            <a:ext cx="4608575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OptiPeople</a:t>
            </a: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OEM manufacturers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3584448"/>
            <a:ext cx="2240280" cy="347472"/>
          </a:xfrm>
          <a:prstGeom prst="roundRect">
            <a:avLst>
              <a:gd fmla="val 21053" name="adj"/>
            </a:avLst>
          </a:prstGeom>
          <a:solidFill>
            <a:srgbClr val="1B8B87">
              <a:alpha val="80000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3593592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Powered by AI + real-time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40233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Turning machine intelligence into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business advantage — from day one.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201168"/>
            <a:ext cx="3794760" cy="45262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1"/>
          <p:cNvCxnSpPr/>
          <p:nvPr/>
        </p:nvCxnSpPr>
        <p:spPr>
          <a:xfrm>
            <a:off x="5138928" y="201168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054" y="171777"/>
            <a:ext cx="3164967" cy="59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Why building great machines is only half the battle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challenges every OEM manufacturer faces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10312" y="1993392"/>
            <a:ext cx="4224528" cy="133502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19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10312" y="1993392"/>
            <a:ext cx="45720" cy="133502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10896" y="205740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0756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978408" y="2057400"/>
            <a:ext cx="3346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competing on 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301752" y="2377440"/>
            <a:ext cx="4059936" cy="0"/>
          </a:xfrm>
          <a:prstGeom prst="straightConnector1">
            <a:avLst/>
          </a:prstGeom>
          <a:noFill/>
          <a:ln cap="flat" cmpd="sng" w="9525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301752" y="2432304"/>
            <a:ext cx="40599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 the best machines is not always enough.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New generations of customers identify value including smart software solutions alongside hardware.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Without ongoing customer value, the next sale is won on discount — not differentiation.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09160" y="1993392"/>
            <a:ext cx="4224528" cy="133502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19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09160" y="1993392"/>
            <a:ext cx="45720" cy="133502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09744" y="205740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4648" y="20756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5477256" y="2057400"/>
            <a:ext cx="3346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Warranty costs you can't control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4800600" y="2377440"/>
            <a:ext cx="4059936" cy="0"/>
          </a:xfrm>
          <a:prstGeom prst="straightConnector1">
            <a:avLst/>
          </a:prstGeom>
          <a:noFill/>
          <a:ln cap="flat" cmpd="sng" w="9525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4800600" y="2432304"/>
            <a:ext cx="40599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Machines are installed professionally — but success depends on the operator.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When something goes wrong, problems are always addressed to the supplier.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No data means no defence — disputes are resolved by gut feeling, not facts.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10312" y="3438144"/>
            <a:ext cx="4224528" cy="133502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19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10312" y="3438144"/>
            <a:ext cx="45720" cy="133502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10896" y="3502152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5204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978408" y="3502152"/>
            <a:ext cx="3346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 drift away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301752" y="3822192"/>
            <a:ext cx="4059936" cy="0"/>
          </a:xfrm>
          <a:prstGeom prst="straightConnector1">
            <a:avLst/>
          </a:prstGeom>
          <a:noFill/>
          <a:ln cap="flat" cmpd="sng" w="9525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2"/>
          <p:cNvSpPr/>
          <p:nvPr/>
        </p:nvSpPr>
        <p:spPr>
          <a:xfrm>
            <a:off x="301752" y="3877056"/>
            <a:ext cx="40599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Minimal revenue from spare parts and services after delivery.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Customer contact is sporadic — only when there is a problem.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No consistent recurring revenue to rely on in difficult times.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09160" y="3438144"/>
            <a:ext cx="4224528" cy="133502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19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09160" y="3438144"/>
            <a:ext cx="45720" cy="133502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09744" y="3502152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4648" y="35204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5477256" y="3502152"/>
            <a:ext cx="3346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is too costly to build alone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2"/>
          <p:cNvCxnSpPr/>
          <p:nvPr/>
        </p:nvCxnSpPr>
        <p:spPr>
          <a:xfrm>
            <a:off x="4800600" y="3822192"/>
            <a:ext cx="4059936" cy="0"/>
          </a:xfrm>
          <a:prstGeom prst="straightConnector1">
            <a:avLst/>
          </a:prstGeom>
          <a:noFill/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2"/>
          <p:cNvSpPr/>
          <p:nvPr/>
        </p:nvSpPr>
        <p:spPr>
          <a:xfrm>
            <a:off x="4800600" y="3877056"/>
            <a:ext cx="4059936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6200" lvl="0" marL="76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Developing own software solutions is expensive and slow.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Keeping up with AI, cyber security and latest tools requires continuous investment.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Dependency on PLC and PC supplier solutions is costly and limits flexibility.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spcBef>
                <a:spcPts val="100"/>
              </a:spcBef>
              <a:spcAft>
                <a:spcPts val="0"/>
              </a:spcAft>
              <a:buClr>
                <a:srgbClr val="D1DBDB"/>
              </a:buClr>
              <a:buSzPts val="880"/>
              <a:buFont typeface="Calibri"/>
              <a:buChar char="–"/>
            </a:pPr>
            <a:r>
              <a:rPr lang="en-US" sz="88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Difficult to build customised services that create real customer value and revenue.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10312" y="4837176"/>
            <a:ext cx="8723376" cy="237744"/>
          </a:xfrm>
          <a:prstGeom prst="rect">
            <a:avLst/>
          </a:prstGeom>
          <a:solidFill>
            <a:srgbClr val="1B8B87">
              <a:alpha val="18039"/>
            </a:srgbClr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Business owners and CEOs recognise these pressures — and are actively searching for answers.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Everything we build around the machine starts with real data from the machine</a:t>
            </a:r>
            <a:r>
              <a:rPr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AI integration</a:t>
            </a:r>
            <a:r>
              <a:rPr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Digital strategic partner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platform — machine intelligence at the core</a:t>
            </a:r>
            <a:r>
              <a:rPr lang="en-US" sz="16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  —  AI-powered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950208" y="1993392"/>
            <a:ext cx="1243584" cy="2633472"/>
          </a:xfrm>
          <a:prstGeom prst="rect">
            <a:avLst/>
          </a:prstGeom>
          <a:solidFill>
            <a:srgbClr val="1B8B87">
              <a:alpha val="90196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950208" y="1993392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950208" y="2542032"/>
            <a:ext cx="1243584" cy="18288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986784" y="2596896"/>
            <a:ext cx="1152144" cy="195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OEE &amp; availability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Cycle time logging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Error &amp; stop data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Energy monitoring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Fleet overview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AI-driven insights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3063240" y="2788920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3822192" y="270662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3063240" y="3310128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3822192" y="322783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3063240" y="3831336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3822192" y="374904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193792" y="2560320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5943600" y="247802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5193792" y="3310128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/>
          <p:nvPr/>
        </p:nvSpPr>
        <p:spPr>
          <a:xfrm>
            <a:off x="5943600" y="322783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193792" y="4059936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5943600" y="397764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56032" y="2011680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56032" y="2011680"/>
            <a:ext cx="45720" cy="69494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206654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machines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230428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Sensors, PLC/CNC, hardware I/O. No extra hardware required in most cases.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56032" y="2816352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56032" y="2816352"/>
            <a:ext cx="45720" cy="69494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65760" y="287121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ERP / MES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31089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Orders, production plans, workforce data. Connect directly — no data silos.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56032" y="3621024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56032" y="3621024"/>
            <a:ext cx="45720" cy="694944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65760" y="367588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Operator input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65760" y="39136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Structured stop registrations, maintenance logs, manual quality entries.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144768" y="2011680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44768" y="2011680"/>
            <a:ext cx="45720" cy="69494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54496" y="2066544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Warranty &amp; OptiAssist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54496" y="230428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24/7 cross-border digital support in local languages. AI-guided troubleshooting from day one.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144768" y="2816352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144768" y="2816352"/>
            <a:ext cx="45720" cy="694944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254496" y="287121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 services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254496" y="31089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Customers connected during warranty — helpdesk, AI insights, upgrade alerts, utilisation tips.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144768" y="3621024"/>
            <a:ext cx="2743200" cy="6949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144768" y="3621024"/>
            <a:ext cx="45720" cy="69494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254496" y="367588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OEM revenue growth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254496" y="39136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Freemium → paid tiers. Differentiate on service. Build recurring income beyond machine sales.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solidFill>
            <a:srgbClr val="1B8B87">
              <a:alpha val="20000"/>
            </a:srgbClr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11480" y="467258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Machine intelligence is the backbone — every service, every revenue stream, every customer relationship is built on top of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standard subscription to a fully branded OEM digital ecosystem</a:t>
            </a:r>
            <a:r>
              <a:rPr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AI integration</a:t>
            </a:r>
            <a:r>
              <a:rPr lang="en-US" sz="9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Digital strategic partner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OptiPeople platform — what it can do for you</a:t>
            </a:r>
            <a:r>
              <a:rPr lang="en-US" sz="16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  —  AI-powered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56032" y="2029968"/>
            <a:ext cx="2057400" cy="126187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56032" y="2029968"/>
            <a:ext cx="2057400" cy="45720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694944" y="210312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machine 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2487168"/>
            <a:ext cx="1856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Integrates AI solutions for predictive maintenance, utilisation optimisation and anomaly detection.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414016" y="2029968"/>
            <a:ext cx="2057400" cy="126187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414016" y="2029968"/>
            <a:ext cx="2057400" cy="45720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3744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2852928" y="210312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performance reports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523744" y="2487168"/>
            <a:ext cx="1856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Real customer-facing reports on machine performance, energy use, OEE and uptime — branded to you.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0" y="2029968"/>
            <a:ext cx="2057400" cy="126187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572000" y="2029968"/>
            <a:ext cx="2057400" cy="45720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1728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5010912" y="210312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OptiAssist — 24/7 support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681728" y="2487168"/>
            <a:ext cx="1856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Digital service desk across borders, in local languages. AI-guided troubleshooting reduces field visits.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729984" y="2029968"/>
            <a:ext cx="2057400" cy="126187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729984" y="2029968"/>
            <a:ext cx="2057400" cy="45720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9712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/>
          <p:nvPr/>
        </p:nvSpPr>
        <p:spPr>
          <a:xfrm>
            <a:off x="7168896" y="210312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Utilisation + problem-solving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839712" y="2487168"/>
            <a:ext cx="18562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Combines machine utilisation data with the customer's ability to resolve issues — closing the loop on service.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56032" y="3410712"/>
            <a:ext cx="8631936" cy="292608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65760" y="34198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OEM app journey — start standard, grow to fully branded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256032" y="3730752"/>
            <a:ext cx="2798064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56032" y="3730752"/>
            <a:ext cx="2798064" cy="256032"/>
          </a:xfrm>
          <a:prstGeom prst="rect">
            <a:avLst/>
          </a:prstGeom>
          <a:solidFill>
            <a:srgbClr val="8AACAC">
              <a:alpha val="85098"/>
            </a:srgbClr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29184" y="3730752"/>
            <a:ext cx="173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 — Standard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990832" y="3730752"/>
            <a:ext cx="10073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here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47472" y="402336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OptiPeople standard app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47472" y="4251960"/>
            <a:ext cx="26334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Customers start with the standard OptiPeople platform. Machine data, OEE dashboard, stop registration, AI insights and OptiAssist support — live within days. Zero customisation required.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154680" y="3730752"/>
            <a:ext cx="2798064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154680" y="3730752"/>
            <a:ext cx="2798064" cy="256032"/>
          </a:xfrm>
          <a:prstGeom prst="rect">
            <a:avLst/>
          </a:prstGeom>
          <a:solidFill>
            <a:srgbClr val="A3EEC8">
              <a:alpha val="85098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3227832" y="3730752"/>
            <a:ext cx="173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2 — Customised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889480" y="3730752"/>
            <a:ext cx="10073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 with 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246120" y="402336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Your brand, your features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246120" y="4251960"/>
            <a:ext cx="26334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Add your logo, colours and product-specific workflows. Customer-facing reports with your identity. Feature selection tailored to your machine type and service model.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053328" y="3730752"/>
            <a:ext cx="2798064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053328" y="3730752"/>
            <a:ext cx="2798064" cy="256032"/>
          </a:xfrm>
          <a:prstGeom prst="rect">
            <a:avLst/>
          </a:prstGeom>
          <a:solidFill>
            <a:srgbClr val="E8B84B">
              <a:alpha val="85098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126480" y="3730752"/>
            <a:ext cx="173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 — Strategic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788128" y="3730752"/>
            <a:ext cx="10073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OEM ownership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144768" y="4023360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Your own supplier app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44768" y="4251960"/>
            <a:ext cx="26334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fully customised OEM app, powered by OptiPeople. Your product. Your customer journey. Integrated digital strategy — from pre-sale demo to lifetime service and upgrade path.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 complete digital strategy built on OptiPeople — from machine connection to branded customer app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Case: IDG — Italian Drying Group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56032" y="2029968"/>
            <a:ext cx="2926080" cy="267004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56032" y="2029968"/>
            <a:ext cx="2926080" cy="438912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65760" y="2029968"/>
            <a:ext cx="27066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is IDG?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47472" y="2560320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Group: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188720" y="2560320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Italian Drying Group (IDG)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Brands: Incomac + Nardi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47472" y="3072384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Industry: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188720" y="3072384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Wood drying kilns &amp; systems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Founded 1975 — 50 years of expertise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47472" y="3584448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Scale: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188720" y="358444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10,000+ kilns installed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95 countries worldwide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47472" y="4096512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Mission: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188720" y="409651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Benchmark in drying — sustainability,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energy savings, lasting partnerships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328416" y="2029968"/>
            <a:ext cx="2852928" cy="267004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328416" y="2029968"/>
            <a:ext cx="2852928" cy="438912"/>
          </a:xfrm>
          <a:prstGeom prst="rect">
            <a:avLst/>
          </a:prstGeom>
          <a:solidFill>
            <a:srgbClr val="A3EEC8">
              <a:alpha val="85098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438144" y="2029968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built together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401568" y="2596896"/>
            <a:ext cx="256032" cy="256032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401568" y="25968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730752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digital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730752" y="279806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20"/>
              <a:buFont typeface="Calibri"/>
              <a:buNone/>
            </a:pPr>
            <a:r>
              <a:rPr lang="en-US" sz="82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End-to-end OEM digital roadmap — from machine connection to customer lifetime value.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401568" y="3108960"/>
            <a:ext cx="256032" cy="256032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401568" y="31089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3730752" y="30906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Incotech branded app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730752" y="33101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20"/>
              <a:buFont typeface="Calibri"/>
              <a:buNone/>
            </a:pPr>
            <a:r>
              <a:rPr lang="en-US" sz="82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"Keep your drying rooms under control" — available on Google Play, powered by OptiPeople.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401568" y="3621024"/>
            <a:ext cx="256032" cy="256032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401568" y="36210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730752" y="360273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Freemium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730752" y="382219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20"/>
              <a:buFont typeface="Calibri"/>
              <a:buNone/>
            </a:pPr>
            <a:r>
              <a:rPr lang="en-US" sz="82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10,000+ installed kilns reachable from day one. Free entry, paid upgrade path.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401568" y="4133088"/>
            <a:ext cx="256032" cy="256032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401568" y="41330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536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07353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730752" y="41148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OptiAssist integration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730752" y="433425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20"/>
              <a:buFont typeface="Calibri"/>
              <a:buNone/>
            </a:pPr>
            <a:r>
              <a:rPr lang="en-US" sz="82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24/7 AI support in local languages across all borders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327648" y="2029968"/>
            <a:ext cx="2560320" cy="267004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327648" y="2029968"/>
            <a:ext cx="2560320" cy="438912"/>
          </a:xfrm>
          <a:prstGeom prst="rect">
            <a:avLst/>
          </a:prstGeom>
          <a:solidFill>
            <a:srgbClr val="E8B84B">
              <a:alpha val="85098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437376" y="2029968"/>
            <a:ext cx="23408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400800" y="256032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10,000+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7351776" y="25786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kilns addressable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from launch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400800" y="309067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351776" y="31089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countries with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Installed machines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400800" y="362102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7351776" y="36393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OptiAssist support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across all time zones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400800" y="415137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7351776" y="41696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Recurring revenue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for every connected kiln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256032" y="4690297"/>
            <a:ext cx="8631936" cy="256032"/>
          </a:xfrm>
          <a:prstGeom prst="rect">
            <a:avLst/>
          </a:prstGeom>
          <a:solidFill>
            <a:srgbClr val="E8B84B">
              <a:alpha val="20000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11480" y="4698865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IDG is proof of concept — a full OEM digital ecosystem, built on OptiPeople, already live in the market.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Revenue impact of an OptiPeople OEM partnership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business case — what it's worth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256032" y="2103120"/>
            <a:ext cx="3200400" cy="74980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56032" y="2103120"/>
            <a:ext cx="64008" cy="749808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20624" y="2176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20624" y="2505456"/>
            <a:ext cx="296265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recurring revenue stream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from software subscriptions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256032" y="2999232"/>
            <a:ext cx="3200400" cy="74980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256032" y="2999232"/>
            <a:ext cx="64008" cy="749808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20624" y="307238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Lower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20624" y="3401568"/>
            <a:ext cx="296265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warranty &amp; service costs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through data-backed decisions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256032" y="3895344"/>
            <a:ext cx="3200400" cy="749808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256032" y="3895344"/>
            <a:ext cx="64008" cy="749808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20624" y="396849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Higher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20624" y="4297680"/>
            <a:ext cx="296265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sales close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with a differentiated digital offer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3822192" y="2066544"/>
            <a:ext cx="5065776" cy="2523744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950208" y="2130552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Revenue model — illustrative ranges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3822192" y="2468880"/>
            <a:ext cx="5065776" cy="329184"/>
          </a:xfrm>
          <a:prstGeom prst="rect">
            <a:avLst/>
          </a:prstGeom>
          <a:solidFill>
            <a:srgbClr val="1B8B87">
              <a:alpha val="80000"/>
            </a:srgbClr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3950208" y="250545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stream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309360" y="250545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626096" y="250545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950208" y="287121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Standard app subscriptions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309360" y="287121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€12–25k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7626096" y="287121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€45–90k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822192" y="3200400"/>
            <a:ext cx="5065776" cy="329184"/>
          </a:xfrm>
          <a:prstGeom prst="rect">
            <a:avLst/>
          </a:prstGeom>
          <a:solidFill>
            <a:srgbClr val="163638"/>
          </a:solidFill>
          <a:ln cap="flat" cmpd="sng" w="12700">
            <a:solidFill>
              <a:srgbClr val="163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950208" y="323697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Customised tier upsell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6309360" y="323697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€8–15k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7626096" y="32369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€30–60k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950208" y="360273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Strategic OEM app + services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309360" y="360273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€15–30k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7626096" y="360273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€60–120k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822192" y="3931920"/>
            <a:ext cx="5065776" cy="329184"/>
          </a:xfrm>
          <a:prstGeom prst="rect">
            <a:avLst/>
          </a:prstGeom>
          <a:solidFill>
            <a:srgbClr val="163638"/>
          </a:solidFill>
          <a:ln cap="flat" cmpd="sng" w="12700">
            <a:solidFill>
              <a:srgbClr val="163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3950208" y="396849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OptiAssist (support SLA)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309360" y="396849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€5–10k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7626096" y="396849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€20–40k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3822192" y="4553712"/>
            <a:ext cx="50657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AC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AACAC"/>
                </a:solidFill>
                <a:latin typeface="Calibri"/>
                <a:ea typeface="Calibri"/>
                <a:cs typeface="Calibri"/>
                <a:sym typeface="Calibri"/>
              </a:rPr>
              <a:t>Illustrative ranges. Actual revenue depends on machine volume, tier uptake and partnership depth.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What you bring · What OptiPeople brings · How it works together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partnership looks like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256032" y="2066544"/>
            <a:ext cx="4041648" cy="25054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56032" y="2066544"/>
            <a:ext cx="4041648" cy="43891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20624" y="2066544"/>
            <a:ext cx="371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bring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7"/>
          <p:cNvSpPr/>
          <p:nvPr/>
        </p:nvSpPr>
        <p:spPr>
          <a:xfrm>
            <a:off x="640080" y="2596896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Your machines and customer 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/>
          <p:nvPr/>
        </p:nvSpPr>
        <p:spPr>
          <a:xfrm>
            <a:off x="640080" y="2980944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Machine specifications and domain expertise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3741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640080" y="3364992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Sales and service organisation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7581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7"/>
          <p:cNvSpPr/>
          <p:nvPr/>
        </p:nvSpPr>
        <p:spPr>
          <a:xfrm>
            <a:off x="640080" y="3749040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CEO commitment and internal ambassador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142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7"/>
          <p:cNvSpPr/>
          <p:nvPr/>
        </p:nvSpPr>
        <p:spPr>
          <a:xfrm>
            <a:off x="640080" y="4133088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Brand identity for the 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846320" y="2066544"/>
            <a:ext cx="4041648" cy="2505456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846320" y="2066544"/>
            <a:ext cx="4041648" cy="438912"/>
          </a:xfrm>
          <a:prstGeom prst="rect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5010912" y="2066544"/>
            <a:ext cx="3712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OptiPeople brings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"/>
          <p:cNvSpPr/>
          <p:nvPr/>
        </p:nvSpPr>
        <p:spPr>
          <a:xfrm>
            <a:off x="5230368" y="2596896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OptiCloud IoT platform + AI infrastructure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7"/>
          <p:cNvSpPr/>
          <p:nvPr/>
        </p:nvSpPr>
        <p:spPr>
          <a:xfrm>
            <a:off x="5230368" y="2980944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App dev, OptiAssist &amp; branded customisation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33741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7"/>
          <p:cNvSpPr/>
          <p:nvPr/>
        </p:nvSpPr>
        <p:spPr>
          <a:xfrm>
            <a:off x="5230368" y="3364992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55+ OEM production environments of know-how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37581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5230368" y="3749040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ERP / MES integration capability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4142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7"/>
          <p:cNvSpPr/>
          <p:nvPr/>
        </p:nvSpPr>
        <p:spPr>
          <a:xfrm>
            <a:off x="5230368" y="4133088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Ongoing development, roadmap &amp; consultancy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297680" y="3145536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8B87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B8B87"/>
                </a:solidFill>
                <a:latin typeface="Calibri"/>
                <a:ea typeface="Calibri"/>
                <a:cs typeface="Calibri"/>
                <a:sym typeface="Calibri"/>
              </a:rPr>
              <a:t>⟷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256032" y="4626864"/>
            <a:ext cx="8631936" cy="301752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20624" y="4636008"/>
            <a:ext cx="8302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Together: a differentiated digital product your customers return to — and pay for continuously.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A3D3E"/>
          </a:solidFill>
          <a:ln cap="flat" cmpd="sng" w="12700">
            <a:solidFill>
              <a:srgbClr val="0A3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A3D3E"/>
          </a:solidFill>
          <a:ln cap="flat" cmpd="sng" w="12700">
            <a:solidFill>
              <a:srgbClr val="0A3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201168"/>
            <a:ext cx="25603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>
            <a:off x="502920" y="1005840"/>
            <a:ext cx="5943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explore what this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looks like for you.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256032" y="2697480"/>
            <a:ext cx="475488" cy="475488"/>
          </a:xfrm>
          <a:prstGeom prst="ellipse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56032" y="26974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10312" y="3273552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Discovery 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210312" y="3621024"/>
            <a:ext cx="26700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30–45 min. We map your machine portfolio, customer base and current service model.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200400" y="2697480"/>
            <a:ext cx="475488" cy="475488"/>
          </a:xfrm>
          <a:prstGeom prst="ellipse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200400" y="26974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154680" y="3273552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Concept session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154680" y="3621024"/>
            <a:ext cx="26700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We define the right platform tier and OEM app strategy — tailored to your market.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144768" y="2697480"/>
            <a:ext cx="475488" cy="475488"/>
          </a:xfrm>
          <a:prstGeom prst="ellipse">
            <a:avLst/>
          </a:prstGeom>
          <a:solidFill>
            <a:srgbClr val="1B8B87"/>
          </a:solidFill>
          <a:ln cap="flat" cmpd="sng" w="12700">
            <a:solidFill>
              <a:srgbClr val="1B8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6144768" y="26974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6099048" y="3273552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Pilot proposal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099048" y="3621024"/>
            <a:ext cx="26700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A concrete scope, timeline and commercial model — yours to review and decide.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536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73152"/>
            <a:ext cx="20116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9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Three ways to start — choose what fits your ambition today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0" y="1051560"/>
            <a:ext cx="9144000" cy="868680"/>
          </a:xfrm>
          <a:prstGeom prst="rect">
            <a:avLst/>
          </a:prstGeom>
          <a:solidFill>
            <a:srgbClr val="073536"/>
          </a:solidFill>
          <a:ln cap="flat" cmpd="sng" w="12700">
            <a:solidFill>
              <a:srgbClr val="073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11480" y="105156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would you like to get started?</a:t>
            </a:r>
            <a:r>
              <a:rPr lang="en-US" sz="16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  —  your call, your pace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256032" y="2048256"/>
            <a:ext cx="2798064" cy="2743200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256032" y="2048256"/>
            <a:ext cx="2798064" cy="91440"/>
          </a:xfrm>
          <a:prstGeom prst="rect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65760" y="21579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AC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8AACA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1938528" y="2157984"/>
            <a:ext cx="1005840" cy="256032"/>
          </a:xfrm>
          <a:prstGeom prst="roundRect">
            <a:avLst>
              <a:gd fmla="val 14286" name="adj"/>
            </a:avLst>
          </a:prstGeom>
          <a:solidFill>
            <a:srgbClr val="8AACAC">
              <a:alpha val="25098"/>
            </a:srgbClr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1938528" y="21579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&amp; discover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65760" y="2523744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platform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65760" y="2999232"/>
            <a:ext cx="2596896" cy="237744"/>
          </a:xfrm>
          <a:prstGeom prst="rect">
            <a:avLst/>
          </a:prstGeom>
          <a:solidFill>
            <a:srgbClr val="8AACAC">
              <a:alpha val="20000"/>
            </a:srgbClr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93192" y="300837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A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8AACAC"/>
                </a:solidFill>
                <a:latin typeface="Calibri"/>
                <a:ea typeface="Calibri"/>
                <a:cs typeface="Calibri"/>
                <a:sym typeface="Calibri"/>
              </a:rPr>
              <a:t>From €X/machine/month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65760" y="3355848"/>
            <a:ext cx="91440" cy="91440"/>
          </a:xfrm>
          <a:prstGeom prst="ellipse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93776" y="3291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Order a standard OptiPeople subscription directly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65760" y="3630168"/>
            <a:ext cx="91440" cy="91440"/>
          </a:xfrm>
          <a:prstGeom prst="ellipse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93776" y="35661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Connect your machines — live within days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65760" y="3904488"/>
            <a:ext cx="91440" cy="91440"/>
          </a:xfrm>
          <a:prstGeom prst="ellipse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93776" y="38404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Full access to machine data, OEE dashboards and OptiAssist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65760" y="4178808"/>
            <a:ext cx="91440" cy="91440"/>
          </a:xfrm>
          <a:prstGeom prst="ellipse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493776" y="41148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No customisation required — see the value before you invest further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65760" y="4453128"/>
            <a:ext cx="91440" cy="91440"/>
          </a:xfrm>
          <a:prstGeom prst="ellipse">
            <a:avLst/>
          </a:prstGeom>
          <a:solidFill>
            <a:srgbClr val="8AACAC"/>
          </a:solidFill>
          <a:ln cap="flat" cmpd="sng" w="12700">
            <a:solidFill>
              <a:srgbClr val="8AAC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93776" y="43891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Cancel or upgrade anytime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256032" y="4636008"/>
            <a:ext cx="2798064" cy="219456"/>
          </a:xfrm>
          <a:prstGeom prst="rect">
            <a:avLst/>
          </a:prstGeom>
          <a:solidFill>
            <a:srgbClr val="0A2022"/>
          </a:solidFill>
          <a:ln cap="flat" cmpd="sng" w="12700">
            <a:solidFill>
              <a:srgbClr val="0A20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347472" y="4645152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CAC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AACAC"/>
                </a:solidFill>
                <a:latin typeface="Calibri"/>
                <a:ea typeface="Calibri"/>
                <a:cs typeface="Calibri"/>
                <a:sym typeface="Calibri"/>
              </a:rPr>
              <a:t>Self-service entry point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3154680" y="2048256"/>
            <a:ext cx="2798064" cy="2743200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154680" y="2048256"/>
            <a:ext cx="2798064" cy="91440"/>
          </a:xfrm>
          <a:prstGeom prst="rect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264408" y="21579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837176" y="2157984"/>
            <a:ext cx="1005840" cy="256032"/>
          </a:xfrm>
          <a:prstGeom prst="roundRect">
            <a:avLst>
              <a:gd fmla="val 14286" name="adj"/>
            </a:avLst>
          </a:prstGeom>
          <a:solidFill>
            <a:srgbClr val="A3EEC8">
              <a:alpha val="25098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837176" y="21579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&amp; develop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264408" y="2523744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20-machine pilot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1 year partnership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264408" y="2999232"/>
            <a:ext cx="2596896" cy="237744"/>
          </a:xfrm>
          <a:prstGeom prst="rect">
            <a:avLst/>
          </a:prstGeom>
          <a:solidFill>
            <a:srgbClr val="A3EEC8">
              <a:alpha val="20000"/>
            </a:srgbClr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291840" y="300837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Total investment: €12,000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264408" y="3355848"/>
            <a:ext cx="91440" cy="91440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392424" y="3291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Subscription for 20 machines over 12 months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264408" y="3630168"/>
            <a:ext cx="91440" cy="91440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392424" y="35661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4 online co-development sessions with OptiPeople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264408" y="3904488"/>
            <a:ext cx="91440" cy="91440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3392424" y="38404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Define your digital appearance as a supplier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264408" y="4178808"/>
            <a:ext cx="91440" cy="91440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392424" y="41148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Explore platform capabilities and customisation options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264408" y="4453128"/>
            <a:ext cx="91440" cy="91440"/>
          </a:xfrm>
          <a:prstGeom prst="ellipse">
            <a:avLst/>
          </a:prstGeom>
          <a:solidFill>
            <a:srgbClr val="A3EEC8"/>
          </a:solidFill>
          <a:ln cap="flat" cmpd="sng" w="12700">
            <a:solidFill>
              <a:srgbClr val="A3EE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392424" y="43891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Clarify integration paths and go-to-market possibilities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154680" y="4636008"/>
            <a:ext cx="2798064" cy="219456"/>
          </a:xfrm>
          <a:prstGeom prst="rect">
            <a:avLst/>
          </a:prstGeom>
          <a:solidFill>
            <a:srgbClr val="0A2022"/>
          </a:solidFill>
          <a:ln cap="flat" cmpd="sng" w="12700">
            <a:solidFill>
              <a:srgbClr val="0A20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246120" y="4645152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EEC8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A3EEC8"/>
                </a:solidFill>
                <a:latin typeface="Calibri"/>
                <a:ea typeface="Calibri"/>
                <a:cs typeface="Calibri"/>
                <a:sym typeface="Calibri"/>
              </a:rPr>
              <a:t>50–100 OptiPeople hours included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6053328" y="2048256"/>
            <a:ext cx="2798064" cy="2743200"/>
          </a:xfrm>
          <a:prstGeom prst="rect">
            <a:avLst/>
          </a:prstGeom>
          <a:solidFill>
            <a:srgbClr val="0A3D3E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6053328" y="2048256"/>
            <a:ext cx="2798064" cy="914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6163056" y="21579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7735824" y="2157984"/>
            <a:ext cx="1005840" cy="256032"/>
          </a:xfrm>
          <a:prstGeom prst="roundRect">
            <a:avLst>
              <a:gd fmla="val 14286" name="adj"/>
            </a:avLst>
          </a:prstGeom>
          <a:solidFill>
            <a:srgbClr val="E8B84B">
              <a:alpha val="25098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7735824" y="21579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partnership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6163056" y="2523744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OEM digital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6163056" y="2999232"/>
            <a:ext cx="2596896" cy="237744"/>
          </a:xfrm>
          <a:prstGeom prst="rect">
            <a:avLst/>
          </a:prstGeom>
          <a:solidFill>
            <a:srgbClr val="E8B84B">
              <a:alpha val="20000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6190488" y="3008376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Investment on proposal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163056" y="3355848"/>
            <a:ext cx="91440" cy="9144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291072" y="3291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Deep involvement: digital strategy for existing + new customers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6163056" y="3630168"/>
            <a:ext cx="91440" cy="9144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6291072" y="35661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Custom OEM app powered by OptiPeople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6163056" y="3904488"/>
            <a:ext cx="91440" cy="9144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6291072" y="38404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OptiAssist integrated into your service 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163056" y="4178808"/>
            <a:ext cx="91440" cy="9144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6291072" y="41148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OptiPeople consultancy on tactical &amp; operational initiatives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6163056" y="4453128"/>
            <a:ext cx="91440" cy="9144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6291072" y="43891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BD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D1DBDB"/>
                </a:solidFill>
                <a:latin typeface="Calibri"/>
                <a:ea typeface="Calibri"/>
                <a:cs typeface="Calibri"/>
                <a:sym typeface="Calibri"/>
              </a:rPr>
              <a:t>Ongoing roadmap to improve sales, service and revenue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053328" y="4636008"/>
            <a:ext cx="2798064" cy="219456"/>
          </a:xfrm>
          <a:prstGeom prst="rect">
            <a:avLst/>
          </a:prstGeom>
          <a:solidFill>
            <a:srgbClr val="0A2022"/>
          </a:solidFill>
          <a:ln cap="flat" cmpd="sng" w="12700">
            <a:solidFill>
              <a:srgbClr val="0A20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6144768" y="4645152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Scope defined together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0" y="4983480"/>
            <a:ext cx="9144000" cy="8229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37C245"/>
          </a:solidFill>
          <a:ln cap="flat" cmpd="sng" w="12700">
            <a:solidFill>
              <a:srgbClr val="37C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2026-05-10T17:07:40Z</dcterms:created>
  <dc:creator>PptxGenJS</dc:creator>
</cp:coreProperties>
</file>